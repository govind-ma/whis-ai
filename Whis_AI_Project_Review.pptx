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Total Annual Revenue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B2C Revenue (₹ Cr)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D6DE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8.2</c:v>
                </c:pt>
                <c:pt idx="2">
                  <c:v>35.2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B2B SDK Revenue (₹ Cr)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D6DE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</c:v>
                </c:pt>
                <c:pt idx="1">
                  <c:v>2.5</c:v>
                </c:pt>
                <c:pt idx="2">
                  <c:v>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D6DE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3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4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E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B4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4572000" cy="457200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6858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whis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" y="870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58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AI Protection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India's Digital Banking Users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21792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scam detection across calls, SMS, and UPI — built on vernacular AI and a zero-invasive-permission architecture.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•  ANDROID APPLICATION  •  AI-POWERED CYBER SAFETY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1792" y="5850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Barsa Govind  &amp;  Patel Dhruv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</a:rPr>
              <a:t>SS Agrawal Institute of Engineering &amp; Technology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IDEATION &amp; ORIGINAL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Problem Found in the Field, Not the Lab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began with structured field research among first-time UPI users in Tier-2 and Tier-3 Indian cities — the population most exposed to digital fraud and least served by English-first banking UX.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577840" cy="1691640"/>
          </a:xfrm>
          <a:prstGeom prst="rect">
            <a:avLst>
              <a:gd name="adj" fmla="val 4324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7355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lightweight AI safety layer that rides alongside existing banking apps — warning users in their own language, at the exact moment of risk — without ever replacing or reading those apps.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5577840" cy="1234440"/>
          </a:xfrm>
          <a:prstGeom prst="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RULE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0109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processes only data the user or Android OS sends TO the app. Never Accessibility Services, never screen overlays, never another app's data.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VULNERABILITIES IDENTIFIED IN USER INTERVIEWS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/home/claude/whis_deck/icons/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4" y="2081174"/>
            <a:ext cx="281635" cy="2816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69480" y="191109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app UIs left first-time users unable to understand warnings or interfaces.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37960" y="30175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his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313273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296265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fear of police and bank processes discouraged victims from reporting fraud at all.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37960" y="4069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whis_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4184294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69480" y="401421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could not distinguish a reverse UPI ‘collect’ request from money actually received.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37960" y="5120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whis_deck/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4" y="5235854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506577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during live scam calls caused victims to act before rational judgement could catch up.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PLANNED 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B2B2C Hybrid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detection engine, monetized across three connected channels for population-scale reach.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343400"/>
          </a:xfrm>
          <a:prstGeom prst="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his_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365004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1729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Consumer App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call &amp; SMS scam screening, UPI collect-request detection, 6-lesson education hub, 1930 helpline guide, Share-to-Whis.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Shield Pro — ₹49/mo or ₹399/yr: live call guidance, 24/7 AI investigator chatbot, emergency SMS dispatch, 5-device family pack.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1965960"/>
            <a:ext cx="3611880" cy="4343400"/>
          </a:xfrm>
          <a:prstGeom prst="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whis_deck/icons/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64" y="236500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63440" y="31729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Bank &amp; FinTech SDK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63440" y="37947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Fraud Prevention SDK licensed to SBI YONO, HDFC MobileBanking, ICICI iMobile, PhonePe, GPay, and Paytm.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63440" y="51206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privacy-preserving pattern checks directly in-app to intercept collect requests before transaction confirmation.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0" y="1965960"/>
            <a:ext cx="3611880" cy="4343400"/>
          </a:xfrm>
          <a:prstGeom prst="rect">
            <a:avLst>
              <a:gd name="adj" fmla="val 2025"/>
            </a:avLst>
          </a:prstGeom>
          <a:solidFill>
            <a:srgbClr val="F4F6FB"/>
          </a:solidFill>
          <a:ln/>
        </p:spPr>
      </p:sp>
      <p:sp>
        <p:nvSpPr>
          <p:cNvPr id="20" name="Shape 16"/>
          <p:cNvSpPr/>
          <p:nvPr/>
        </p:nvSpPr>
        <p:spPr>
          <a:xfrm>
            <a:off x="850392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his_deck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644" y="2365004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0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INSURANCE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03920" y="317296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Partnerships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503920" y="37947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threat feeds shared with State Cyber Cells and the National Cyber Crime Reporting Portal to map scam networks.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503920" y="51206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Micro-cyber insurance bundling for Pro subscribers, covering up to ₹50,000 in fraudulent losses.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TECHNICAL PLAN &amp; SPECIFICATION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4-Layer Modular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whis_deck/icon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" y="1671157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&amp; Receiver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828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PhoneStateReceiver, SmsReceiver (priority 999), NotificationListenerService, Share-to-Whis intent.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3816" y="2121408"/>
            <a:ext cx="0" cy="56692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48640" y="27614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whis_dec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" y="2878165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157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Heuristic &amp; Pattern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30358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UpiSmsPatternEngine, BlockedNumberStore, ContactSyncEngine — zero-latency, fully on-device.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" y="3328416"/>
            <a:ext cx="0" cy="56692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48640" y="39684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whis_deck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" y="4085173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92277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LLM Analysis Engine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424281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CallGeminiAnalyzer, AgentViewModel, SystemPromptBuilder with RBI &amp; legal grounding.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3816" y="4535424"/>
            <a:ext cx="0" cy="56692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548640" y="517550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whis_deck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" y="52921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51297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Grounding Layer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34440" y="54498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AlertRenderer, RedAlertActivity, HomeFragment, LearnFragment, SettingsFragment.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537960" y="1554480"/>
            <a:ext cx="5120640" cy="4709160"/>
          </a:xfrm>
          <a:prstGeom prst="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24" name="Text 18"/>
          <p:cNvSpPr/>
          <p:nvPr/>
        </p:nvSpPr>
        <p:spPr>
          <a:xfrm>
            <a:off x="685800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0" y="2212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732520" y="22128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 – 14+  (API 26–34)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580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732520" y="27889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(Android SDK)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858000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732520" y="33649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— 3000ms timeout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58000" y="39410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AI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732520" y="39410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API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58000" y="45171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732520" y="451713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SQLite + SharedPreferences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858000" y="50932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732520" y="509320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tokens (trusted / suspicious / high-risk)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858000" y="5669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732520" y="56692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 offline pattern scan · &lt;2.8s AI response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MATERIALIZING PROCESS FORMATION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Four-Stage Engineering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89888" y="2386584"/>
            <a:ext cx="217627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33088" y="2386584"/>
            <a:ext cx="217627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76288" y="2386584"/>
            <a:ext cx="217627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whis_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227844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Research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Discovery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9319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 with first-time UPI users; mapped vulnerabilities and language barriers.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661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whis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884" y="222784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2900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Architecture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Engine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39319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Accessibility APIs and overlays; built the on-device UpiSmsPatternEngine.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093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whis_deck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84" y="222784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7220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Integration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Vernacular Prompting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72200" y="39319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SystemPromptBuilder enforcing Hindi/Hinglish output and hard-coded legal facts.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210312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3" name="Image 3" descr="/home/claude/whis_deck/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284" y="222784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15400" y="28803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915400" y="312724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Real-Device Testing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Materialization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915400" y="393192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call screening, SMS filtering, and WhatsApp sharing on physical devices.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806440"/>
            <a:ext cx="11109960" cy="594360"/>
          </a:xfrm>
          <a:prstGeom prst="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28" name="Text 22"/>
          <p:cNvSpPr/>
          <p:nvPr/>
        </p:nvSpPr>
        <p:spPr>
          <a:xfrm>
            <a:off x="777240" y="58064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detection engine that is privacy-compliant by construction, not by policy — the architecture itself makes invasive surveillance impossible.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IMPLEMENTATION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Structured Build Phases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12080" y="1801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his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8890" y="1878178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&amp; Local Persistence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Call broadcast receivers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UpiSmsPatternEngine (KYC, collect, OTP, loan)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SQLite DB + SHA-256 local hashing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349240" cy="2057400"/>
          </a:xfrm>
          <a:prstGeom prst="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7647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0972800" y="1801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whis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610" y="1878178"/>
            <a:ext cx="230429" cy="23042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&amp; Vernacular UI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26948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37960" y="246888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REST integration, 3s timeout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SystemPromptBuilder — RBI zero-liability + legal citations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Hindi/Devanagari AlertRenderer &amp; RedAlertActivity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5349240" cy="2057400"/>
          </a:xfrm>
          <a:prstGeom prst="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0965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5212080" y="4133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his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890" y="4209898"/>
            <a:ext cx="230429" cy="23042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4114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Investigator Protocol &amp; Education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08760" y="4498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77240" y="48006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first-responder persona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4-step cyber police questioning flow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scam-awareness cards in Learn tab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09360" y="3931920"/>
            <a:ext cx="5349240" cy="2057400"/>
          </a:xfrm>
          <a:prstGeom prst="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26" name="Text 21"/>
          <p:cNvSpPr/>
          <p:nvPr/>
        </p:nvSpPr>
        <p:spPr>
          <a:xfrm>
            <a:off x="6537960" y="409651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10972800" y="4133088"/>
            <a:ext cx="384048" cy="38404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8" name="Image 3" descr="/home/claude/whis_dec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610" y="4209898"/>
            <a:ext cx="230429" cy="23042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69480" y="4114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Scaling &amp; Enterprise Expansion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269480" y="4498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537960" y="48006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AI agent (Hi, Ta, Te, Bn)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banking SDK rollout for GPay / PhonePe / YONO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Cyber Police FIR draft generator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SOCIAL IMPACT &amp; BENEFITS TO SOCIETY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at Population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his_deck/icons/pig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677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190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Life Savings for Vulnerable Groups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7568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first-time digital banking users, senior citizens, homemakers, and rural workers from financially devastating cyber scams.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035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whis_deck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1565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077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RBI Zero-Liability Refunds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2644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victims to report to Helpline 1930 within 3 working days, so they qualify for full bank reimbursement under RBI rules.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24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whis_deck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3452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Democratizing Cyber Literacy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45312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complex fraud techniques into simple Hindi/vernacular stories, teaching users to spot red flags independently.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413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whis_deck/icons/gav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553394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85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Load on Cyber Police Cells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56418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4-step incident-reporting flow reduces incomplete or non-actionable complaints filed at cells and branches.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OUTPUT &amp; FUTURE PLANS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Today, Scaling Tomorrow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DELIVERABLES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his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505" y="2211385"/>
            <a:ext cx="204094" cy="2040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0848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Android application (.apk), tested on physical devices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8072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whis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5" y="2869753"/>
            <a:ext cx="204094" cy="2040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743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&amp; SMS scam classifier integrated with Gemini 2.5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46557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whis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05" y="3528121"/>
            <a:ext cx="204094" cy="2040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4015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UPI fraud detector — UpiSmsPatternEngine.java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22960" y="41239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whis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05" y="4186489"/>
            <a:ext cx="204094" cy="2040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0599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cyber-investigator chatbot (Devanagari Hindi-first)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2960" y="47823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whis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05" y="4844857"/>
            <a:ext cx="204094" cy="2040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98448" y="47183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awareness guide — 6 interactive Indian scam scenarios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22960" y="5440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/home/claude/whis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05" y="5503225"/>
            <a:ext cx="204094" cy="2040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98448" y="53766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“Share to Whis” one-tap WhatsApp/SMS scam analyzer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263640" y="1554480"/>
            <a:ext cx="5394960" cy="4709160"/>
          </a:xfrm>
          <a:prstGeom prst="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25" name="Text 17"/>
          <p:cNvSpPr/>
          <p:nvPr/>
        </p:nvSpPr>
        <p:spPr>
          <a:xfrm>
            <a:off x="6537960" y="1755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· NEXT 12–18 MONTHS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537960" y="2148840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19"/>
          <p:cNvSpPr/>
          <p:nvPr/>
        </p:nvSpPr>
        <p:spPr>
          <a:xfrm>
            <a:off x="653796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7022592" y="20939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Fraud Protection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022592" y="2377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shopping sites, malicious payment links, fake courier &amp; COD refund scams.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3"/>
          <p:cNvSpPr/>
          <p:nvPr/>
        </p:nvSpPr>
        <p:spPr>
          <a:xfrm>
            <a:off x="6537960" y="2807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022592" y="27523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Dialer &amp; SMS Integration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022592" y="3035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InCallService for native screening and thread-level quarantine.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537960" y="3465576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5" name="Text 27"/>
          <p:cNvSpPr/>
          <p:nvPr/>
        </p:nvSpPr>
        <p:spPr>
          <a:xfrm>
            <a:off x="6537960" y="3465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022592" y="34107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AI Agent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022592" y="36941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assistance in Hindi, Tamil, Telugu, and Bengali for elderly users.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537960" y="4123944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9" name="Text 31"/>
          <p:cNvSpPr/>
          <p:nvPr/>
        </p:nvSpPr>
        <p:spPr>
          <a:xfrm>
            <a:off x="6537960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022592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SLM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7022592" y="4352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Nano LLM for 100% offline AI intelligence.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537960" y="4782312"/>
            <a:ext cx="329184" cy="32918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3" name="Text 35"/>
          <p:cNvSpPr/>
          <p:nvPr/>
        </p:nvSpPr>
        <p:spPr>
          <a:xfrm>
            <a:off x="6537960" y="4782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7022592" y="47274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 Draft Generator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7022592" y="5010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complaints for police stations and bank branches.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PLATFORM &amp; LEGAL CONSIDERATIONS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Ship, Built to Comply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ect">
            <a:avLst>
              <a:gd name="adj" fmla="val 15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his_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8937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PLATFORM STACK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770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Gradle 8.x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4381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(API 26 – 34)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8496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1056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11, XML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5171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47731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 4.x, Gemini REST, Groq API, AndroidX Room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184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Tokens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440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Glassmorphism views, Material Components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1554480"/>
            <a:ext cx="5394960" cy="4709160"/>
          </a:xfrm>
          <a:prstGeom prst="rect">
            <a:avLst>
              <a:gd name="adj" fmla="val 1553"/>
            </a:avLst>
          </a:prstGeom>
          <a:solidFill>
            <a:srgbClr val="141B4D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COMPLIANCE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37960" y="2286000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1" descr="/home/claude/whis_deck/icons/file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12" y="2385852"/>
            <a:ext cx="275783" cy="2757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22677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178040" y="25420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raw SMS body stored on external servers; message contents SHA-256 hashed on-device for audit trails.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6537960" y="3584448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2" descr="/home/claude/whis_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812" y="3684300"/>
            <a:ext cx="275783" cy="27578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78040" y="35661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Developer Policies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78040" y="38404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invasive permissions — no Accessibility keylogging, no screen scraping, no intrusive overlays.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6537960" y="4882896"/>
            <a:ext cx="475488" cy="47548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3" descr="/home/claude/whis_deck/icons/gav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12" y="4982748"/>
            <a:ext cx="275783" cy="27578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78040" y="48646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178040" y="51389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RBI Circular DBR.No.Leg.BC.78/09.07.005/2017-18 on customer liability in unauthorized transactions.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REVENUE, FINANCIAL MODEL &amp; GROWTH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Three-Year Path to ₹47 Crore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20840" y="1645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 → 12M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72084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Users, Year 1 to Year 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72084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₹1.13 Cr → ₹47.2 Cr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72084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revenue growth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20840" y="3566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72084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Pro subscribers by Year 3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20840" y="4617720"/>
            <a:ext cx="4937760" cy="1691640"/>
          </a:xfrm>
          <a:prstGeom prst="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4754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49440" y="5047488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virality via “Share to Whis” word-of-mouth adoption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SDK partnerships with regional &amp; rural banks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national cyber-awareness initiatives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 AI  |  PROJECT REVIEW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2026-08-10T18:05:05Z</dcterms:created>
  <dcterms:modified xsi:type="dcterms:W3CDTF">2026-08-10T18:05:05Z</dcterms:modified>
</cp:coreProperties>
</file>